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5973425" cy="8934450"/>
  <p:notesSz cx="8934450" cy="159734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Discarded</c:v>
                </c:pt>
              </c:strCache>
            </c:strRef>
          </c:tx>
          <c:spPr>
            <a:solidFill>
              <a:srgbClr val="4AF66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Thane 2015–20 (99%)</c:v>
                  </c:pt>
                  <c:pt idx="1">
                    <c:v>Patiala 2021–23 (96%)</c:v>
                  </c:pt>
                  <c:pt idx="2">
                    <c:v>Goa 2023 (98%)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47.8</c:v>
                </c:pt>
                <c:pt idx="1">
                  <c:v>45.4</c:v>
                </c:pt>
                <c:pt idx="2">
                  <c:v>7.9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EE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Realistic data</c:v>
                </c:pt>
              </c:strCache>
            </c:strRef>
          </c:tx>
          <c:spPr>
            <a:solidFill>
              <a:srgbClr val="4AF66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 platform (today)</c:v>
                  </c:pt>
                  <c:pt idx="1">
                    <c:v>Naive matcher on stale data</c:v>
                  </c:pt>
                  <c:pt idx="2">
                    <c:v>RaktSetu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13.524622222222222</c:v>
                </c:pt>
                <c:pt idx="1">
                  <c:v>10.309355555555555</c:v>
                </c:pt>
                <c:pt idx="2">
                  <c:v>8.551133333333333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Poor data</c:v>
                </c:pt>
              </c:strCache>
            </c:strRef>
          </c:tx>
          <c:spPr>
            <a:solidFill>
              <a:srgbClr val="E8C54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 platform (today)</c:v>
                  </c:pt>
                  <c:pt idx="1">
                    <c:v>Naive matcher on stale data</c:v>
                  </c:pt>
                  <c:pt idx="2">
                    <c:v>RaktSetu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13.857466666666667</c:v>
                </c:pt>
                <c:pt idx="1">
                  <c:v>11.754355555555556</c:v>
                </c:pt>
                <c:pt idx="2">
                  <c:v>8.589866666666667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EE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>
            <a:alpha val="0"/>
          </a:srgbClr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DDEEE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Trex, leader Siddharth Raj. Track: Open Innovation (healthcare). Project: RaktSetu.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discard numbers are single-centre studies, shown as a range, never as a national rate; Goa (7.9%) is kept deliberately and Cuttack is a counterexample (expiry was its smallest discard cause, 5.2%). The Surat 2015 figure used in v2 was removed: its primary paper could not be opened to confirm 29.0%/95.8%. 'Nearby centres ran short' is now stated as our premise, not a measured fact. NBTC 2015 permission and the Maharashtra FDA daily-update order are cited as reported in news; we did not obtain the official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2 change: the prototype is now built (raktsetu-app). It runs end to end on simulated data: list, match, confirm, approve, dispatch, deliver, plus a public finder and a message parser whose drafts a person checks. The trust and matcher code is ported from the simulator and golden parity tests show it reproduces the simulator's decisions exactly: 2,342 recorded cases and 17 complete 180-day runs, day by day. Input is a mock channel (typed or pasted messages), not WhatsApp; users are demo roles, not real authentication; the matching policy is not clinically validated. The trust estimate is a Beta(2,1) count per centre and listing-age bucket (0, 1, 2+ days); in the prototype it learns from confirmations; there is no decay curve. The matcher is greedy; an exact min-cost-flow matcher changed unserved patients by at most 0.04 percentage points in simulation. The ≥12 h on-arrival margin is our own safety choice, not a regulation.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2: the stack is built and runs as one local process on simulated data. Deviations from the Round 1 plan, chosen for a 3-day build and a reliable demo: SQLite instead of PostgreSQL (same SQLAlchemy models, a configuration change to switch); a mock message channel instead of the WhatsApp Cloud API (business verification could not be done in time); no Docker, cloud hosting or CI yet; e-RaktKosh and the SBTC/FDA report are planned. The parser uses rules, or the Claude API when a key is set; the LLM only extracts fields and our code resolves dates and raises every check; a person approves each draft. The LLM path has been tested only with a fake client so far. Trust: Beta(2,1) count per centre and listing-age bucket, p = alpha/(alpha+beta), no decay; the prototype learns from confirmations. Matcher: greedy, ported from the simulator and parity-tested.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2: this is the working app, not a mock-up: a real screenshot of the coordinator board on the seeded, fictional 8-centre city, after the strict matcher suggested two transfers. Every value on it is computed by the backend. We can show it live: confirm, the refused staff approval, medical-officer approval, the trust update after a partial confirmation, the message inbox and the public finder. The finder shows High/Medium/Low bands because the raw reliability estimate is not well calibrated (underconfident below about 0.6); on held-out simulated runs, High-band visits found stock 87% of the time, Medium 71%, Low 54%. Messages come through a mock channel (typed or pasted); Hindi and Marathi parsing and the regulator view are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2 column, all built and runnable: the end-to-end workflow on simulated data; the trust and matcher code ported from the simulator, with golden parity tests reproducing 2,342 recorded cases and 17 complete 180-day simulated runs exactly; over 200 automated tests in total (core, parity, API, claims audit). Still open: a transfusion specialist has not yet reviewed the matching policy, and the parser's accuracy test (a frozen synthetic set, partly hand-written) has not been scored. The chart and the red box are unchanged simulator results: G1 (families sent to search cut by at least 40%) and G2 (failed visits cut by at least 80%) FAILED in both scenarios; G3 and G4 PASSED. About half of the gap to the single-group result comes from RhD-negative groups, which the par levels never request (RESULTS_v3.md).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tiles use one model basis: v3 simulator, strict ABO/RhD matching, realistic stock data (S1), 300 paired runs, seeds 3000–3299. Tiles 1 and 2 missed their pre-registered targets (G1, G2) and are shown as failures. 'Zero wasted trips' is true by design because every transfer is confirmed first; its cost is about 3.7 confirmation calls a day. 10,995 / (3 × 365) ≈ 10 units a day. The v2 tiles and figures (families −66%, failed visits −96%, expiry 37.8% → 21.6%, 4,205 centres, BloodMove −54%) were replaced: the first three came from a model without blood groups and the last two could not be re-verified from a source we could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Team Trex — RaktSetu.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2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6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952500" y="5308600"/>
            <a:ext cx="635000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3400" b="1" spc="2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TEAM DETAILS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676400" y="62103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6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TEAM NAME - </a:t>
            </a:r>
            <a:pPr indent="0" marL="0">
              <a:buNone/>
            </a:pPr>
            <a:r>
              <a:rPr lang="en-US" sz="22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Trex</a:t>
            </a:r>
            <a:endParaRPr lang="en-US" sz="1650" dirty="0"/>
          </a:p>
        </p:txBody>
      </p:sp>
      <p:sp>
        <p:nvSpPr>
          <p:cNvPr id="4" name="Text 2"/>
          <p:cNvSpPr txBox="1"/>
          <p:nvPr/>
        </p:nvSpPr>
        <p:spPr>
          <a:xfrm>
            <a:off x="1676400" y="67183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6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TEAM LEADER NAME - </a:t>
            </a:r>
            <a:pPr indent="0" marL="0">
              <a:buNone/>
            </a:pPr>
            <a:r>
              <a:rPr lang="en-US" sz="22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Raj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1676400" y="72263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6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PROBLEM STATEMENT (DOMAIN) - </a:t>
            </a:r>
            <a:pPr indent="0" marL="0">
              <a:buNone/>
            </a:pPr>
            <a:r>
              <a:rPr lang="en-US" sz="22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Innovation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9652000" y="5588000"/>
            <a:ext cx="533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3600" b="1" spc="3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RAKTSETU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652000" y="6350000"/>
            <a:ext cx="533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a trust-aware platelet bridge between blood centres, so near-expiry platelets reach patients before they expire, even when stock data is stale.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889000" y="1422400"/>
            <a:ext cx="114300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3100" b="1" spc="2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PROBLEM STATEMENT &amp; TARGET NEED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889000" y="2768600"/>
            <a:ext cx="762000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8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WHO IS AFFECTED</a:t>
            </a:r>
            <a:endParaRPr lang="en-US" sz="185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3200400"/>
            <a:ext cx="825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need platelets: dengue (2.89 lakh cases in India in 2023), cancer chemotherapy, surgery. When their hospital's centre runs out, families are sent hunting between centres. Pune, Sep 2026: </a:t>
            </a:r>
            <a:pPr indent="0" marL="0">
              <a:spcAft>
                <a:spcPts val="400"/>
              </a:spcAft>
              <a:buNone/>
            </a:pPr>
            <a:r>
              <a:rPr lang="en-US" sz="1650" i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shortage of platelets is currently a major concern”</a:t>
            </a:r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(KEM blood bank head).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89000" y="4292600"/>
            <a:ext cx="762000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8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THE CURRENT GAP</a:t>
            </a:r>
            <a:endParaRPr lang="en-US" sz="185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4724400"/>
            <a:ext cx="825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 last only </a:t>
            </a:r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 three Indian hospital studies, </a:t>
            </a:r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8–48%</a:t>
            </a:r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platelets made were discarded, </a:t>
            </a:r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96–99%</a:t>
            </a:r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them to expiry (not everywhere: in Cuttack expiry was the smallest discard cause). Our premise, not yet measured: one centre's surplus could cover another's shortfall. Maharashtra uploaded only </a:t>
            </a:r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of 80,000+</a:t>
            </a:r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units to e-RaktKosh (Sep–Oct 2023).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5969000"/>
            <a:ext cx="762000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8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WHY IT MATTERS NOW</a:t>
            </a:r>
            <a:endParaRPr lang="en-US" sz="1850" dirty="0"/>
          </a:p>
        </p:txBody>
      </p:sp>
      <p:sp>
        <p:nvSpPr>
          <p:cNvPr id="8" name="Text 6"/>
          <p:cNvSpPr txBox="1"/>
          <p:nvPr/>
        </p:nvSpPr>
        <p:spPr>
          <a:xfrm>
            <a:off x="889000" y="6400800"/>
            <a:ext cx="825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between licensed centres are allowed (D&amp;C Rule 122P(xiv); NBTC 2015, as reported), yet we found no deployed Indian tool that coordinates them. Maharashtra FDA ordered daily e-RaktKosh stock updates (Aug 2026, as reported). In the US, two-hospital platelet sharing cut outdates by about </a:t>
            </a:r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(Zhang et al. 2023).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9779000" y="2692400"/>
            <a:ext cx="558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 discarded at three Indian hospital blood centres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779000" y="2997200"/>
            <a:ext cx="558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platelet units prepared; share of discards due to expiry in brackets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9779000" y="3327400"/>
          <a:ext cx="5588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9"/>
          <p:cNvSpPr/>
          <p:nvPr/>
        </p:nvSpPr>
        <p:spPr>
          <a:xfrm>
            <a:off x="9779000" y="6477000"/>
            <a:ext cx="5588000" cy="1092200"/>
          </a:xfrm>
          <a:prstGeom prst="roundRect">
            <a:avLst>
              <a:gd name="adj" fmla="val 6698"/>
            </a:avLst>
          </a:prstGeom>
          <a:solidFill>
            <a:srgbClr val="10241A">
              <a:alpha val="90000"/>
            </a:srgbClr>
          </a:solidFill>
          <a:ln w="12700">
            <a:solidFill>
              <a:srgbClr val="2E5C3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982200" y="6578600"/>
            <a:ext cx="520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we target: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expire in one centre while another may lack them, and nobody can see reliably who holds what.</a:t>
            </a:r>
            <a:endParaRPr lang="en-US" sz="1500" dirty="0"/>
          </a:p>
        </p:txBody>
      </p:sp>
      <p:sp>
        <p:nvSpPr>
          <p:cNvPr id="14" name="sources"/>
          <p:cNvSpPr txBox="1"/>
          <p:nvPr/>
        </p:nvSpPr>
        <p:spPr>
          <a:xfrm>
            <a:off x="889000" y="762000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6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NCVBDC dengue table; Punekar News 8 Sep 2026; Free Press Journal 2 Oct 2023 and 7 Aug 2026 (as reported); IJCMPH 2024 (Thane, 2,588/5,411); AJPCR 2025 (GMC Patiala, 10,995/24,194); Bioinformation 2026 (Goa, 783/9,929); WJPMR 2017 (Cuttack); D&amp;C Rule 122P(xiv), G.S.R. 328(E) 2017; Medical Dialogues 19 Oct 2015 (NBTC); Zhang et al., Oper. Res. 71(5), 2023.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762000" y="1460500"/>
            <a:ext cx="114300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3100" b="1" spc="2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PROPOSED SOLUTION &amp; INNOVATION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2857500"/>
            <a:ext cx="762000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8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WHAT MAKES IT DIFFERENT</a:t>
            </a:r>
            <a:endParaRPr lang="en-US" sz="185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32893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tools we found describes treating stock listings as possibly stale: they </a:t>
            </a:r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stock</a:t>
            </a:r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near-expiry units</a:t>
            </a:r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RaktSetu treats every listing as possibly stale: it learns each centre's reliability, confirms before any courier leaves, and shows families a High / Medium / Low likelihood band.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4495800"/>
            <a:ext cx="762000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8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CORE MECHANISM</a:t>
            </a:r>
            <a:endParaRPr lang="en-US" sz="185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4914900"/>
            <a:ext cx="8382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Centres post near-expiry units and shortfalls (form, or message via a mock channel).</a:t>
            </a:r>
            <a:endParaRPr lang="en-US" sz="15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Trust: Beta(2,1) reliability per centre for listings 0, 1, 2+ days old.</a:t>
            </a:r>
            <a:endParaRPr lang="en-US" sz="15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Greedy matcher: units expiring ≤2 days, strict ABO/RhD, one-hop rule, ≥12 h margin.</a:t>
            </a:r>
            <a:endParaRPr lang="en-US" sz="15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Sending centre confirms; medical officer approves; 20–24 °C box recorded.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6134100"/>
            <a:ext cx="762000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8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BUILT FOR ROUND 2</a:t>
            </a:r>
            <a:endParaRPr lang="en-US" sz="18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65659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on simulated data: </a:t>
            </a:r>
            <a:pPr indent="0" marL="0">
              <a:spcAft>
                <a:spcPts val="4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browser UI and a message parser with a human check. The trust and matcher code reproduce our simulator's decisions exactly (parity-tested). Mock channel · demo users · not clinically validated.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9461500" y="2692400"/>
            <a:ext cx="596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existing solutions vs RaktSetu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61500" y="3073400"/>
          <a:ext cx="5969000" cy="914400"/>
        </p:xfrm>
        <a:graphic>
          <a:graphicData uri="http://schemas.openxmlformats.org/drawingml/2006/table">
            <a:tbl>
              <a:tblPr/>
              <a:tblGrid>
                <a:gridCol w="1549400"/>
                <a:gridCol w="1473200"/>
                <a:gridCol w="1498600"/>
                <a:gridCol w="1447800"/>
              </a:tblGrid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F6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F6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near-expiry units across centres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F6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stale or wrong stock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F6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'how likely in stock'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31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e-RaktKosh (India)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8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9C2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pages show 'last updated'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9C2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helplines (e.g. Sankalp, Karnataka)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9C2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→ bank, not bank → bank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9C2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described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9C2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helpline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BloodMove (Adelaide, as reported)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F6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8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described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8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al., Oper. Res. 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F6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(2 hospitals)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8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described (abstract)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8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F6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RaktSetu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F6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F6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learned trust + confirm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F6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likelihood band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0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9461500" y="5969000"/>
            <a:ext cx="5969000" cy="1549400"/>
          </a:xfrm>
          <a:prstGeom prst="roundRect">
            <a:avLst>
              <a:gd name="adj" fmla="val 4721"/>
            </a:avLst>
          </a:prstGeom>
          <a:solidFill>
            <a:srgbClr val="10241A">
              <a:alpha val="95000"/>
            </a:srgbClr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52000" y="6070600"/>
            <a:ext cx="5588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Simulated, strict blood-group matching: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matcher that trusts stale listings sent </a:t>
            </a:r>
            <a:pPr indent="0" marL="0">
              <a:buNone/>
            </a:pPr>
            <a:r>
              <a:rPr lang="en-US" sz="14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130–201 wasted courier trips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150 days and, with poor data, left more patients unserved than no platform (8.1% vs 7.7%). Confirming first (~3.7 calls a day) cut that to 2.6%; adding trust ranking cut failed family visits a further 17–18%.</a:t>
            </a:r>
            <a:endParaRPr lang="en-US" sz="1450" dirty="0"/>
          </a:p>
        </p:txBody>
      </p:sp>
      <p:sp>
        <p:nvSpPr>
          <p:cNvPr id="13" name="sources"/>
          <p:cNvSpPr txBox="1"/>
          <p:nvPr/>
        </p:nvSpPr>
        <p:spPr>
          <a:xfrm>
            <a:off x="762000" y="7696200"/>
            <a:ext cx="146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6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e-RaktKosh public pages; Sankalp India Foundation helpline; Nat. Blood Authority (AU) BloodMove case study (as reported; not re-opened); Zhang, Ayer, White, Bodeker &amp; Roback, Oper. Res. 71(5), 2023; Team Trex simulator v3 (realistic / poor stock data, 300 paired runs each). 'Not found' = not found in our search.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889000" y="1143000"/>
            <a:ext cx="114300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3100" b="1" spc="2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SYSTEM ARCHITECTURE &amp; TECH STACK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84200" y="21336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400" b="1" spc="200" kern="0" dirty="0">
                <a:solidFill>
                  <a:srgbClr val="55C226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489200" y="2159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Round 2 · runs locally on simulated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87400" y="27178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200" b="1" spc="1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87400" y="29591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Vite: board, transfer cards, message inbox, public finder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87400" y="37084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200" b="1" spc="1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BACKEND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7400" y="39497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· trust estimate · greedy matcher · workflow · audit log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87400" y="46863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200" b="1" spc="1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7400" y="49276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SQLAlchemy. </a:t>
            </a:r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(same models)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7400" y="57277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200" b="1" spc="1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AI / APIS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87400" y="59690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Beta-Bernoulli trust · greedy matcher · parser with human check. </a:t>
            </a:r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7400" y="67691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200" b="1" spc="1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HOSTING / DEVOPS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7400" y="70104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India-region cloud · CI. Today: one local process.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69000" y="2133600"/>
            <a:ext cx="711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near-expiry platelet unit flows</a:t>
            </a:r>
            <a:pPr indent="0" marL="0">
              <a:buNone/>
            </a:pPr>
            <a:r>
              <a:rPr lang="en-US" sz="12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dashed grey = planned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69000" y="2540000"/>
            <a:ext cx="2540000" cy="939800"/>
          </a:xfrm>
          <a:prstGeom prst="roundRect">
            <a:avLst>
              <a:gd name="adj" fmla="val 5838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2E5C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70600" y="2590800"/>
            <a:ext cx="2336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centres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Near-expiry units + shortfalls by form or message (mock channel)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69000" y="3683000"/>
            <a:ext cx="2540000" cy="762000"/>
          </a:xfrm>
          <a:prstGeom prst="roundRect">
            <a:avLst>
              <a:gd name="adj" fmla="val 7200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86A58E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070600" y="3733800"/>
            <a:ext cx="2336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e-RaktKosh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stock as a prior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69000" y="4648200"/>
            <a:ext cx="2540000" cy="939800"/>
          </a:xfrm>
          <a:prstGeom prst="roundRect">
            <a:avLst>
              <a:gd name="adj" fmla="val 5838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E8C5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70600" y="4699000"/>
            <a:ext cx="2336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 update trust; every step logged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0" y="2540000"/>
            <a:ext cx="3175000" cy="711200"/>
          </a:xfrm>
          <a:prstGeom prst="roundRect">
            <a:avLst>
              <a:gd name="adj" fmla="val 7714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2E5C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5600" y="2590800"/>
            <a:ext cx="2971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Ingest &amp; parse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or Claude API → draft → human check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0" y="3429000"/>
            <a:ext cx="3175000" cy="711200"/>
          </a:xfrm>
          <a:prstGeom prst="roundRect">
            <a:avLst>
              <a:gd name="adj" fmla="val 7714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2E5C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45600" y="3479800"/>
            <a:ext cx="2971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Trust estimate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Beta(2,1) per centre × listing age 0/1/2+ days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144000" y="4318000"/>
            <a:ext cx="3175000" cy="838200"/>
          </a:xfrm>
          <a:prstGeom prst="roundRect">
            <a:avLst>
              <a:gd name="adj" fmla="val 6545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2E5C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45600" y="4368800"/>
            <a:ext cx="2971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Matcher (greedy)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expiring ≤2 days → requests; strict ABO/RhD, one-hop rule, ≥12 h margin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144000" y="5334000"/>
            <a:ext cx="3175000" cy="711200"/>
          </a:xfrm>
          <a:prstGeom prst="roundRect">
            <a:avLst>
              <a:gd name="adj" fmla="val 7714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2E5C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45600" y="5384800"/>
            <a:ext cx="2971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Confirm &amp; approve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centre confirms · only a medical officer approves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144000" y="6223000"/>
            <a:ext cx="3175000" cy="711200"/>
          </a:xfrm>
          <a:prstGeom prst="roundRect">
            <a:avLst>
              <a:gd name="adj" fmla="val 7714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2E5C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45600" y="6273800"/>
            <a:ext cx="2971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Dispatch &amp; audit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 °C box recorded · audit log · transport estimate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2890500" y="2540000"/>
            <a:ext cx="2476500" cy="939800"/>
          </a:xfrm>
          <a:prstGeom prst="roundRect">
            <a:avLst>
              <a:gd name="adj" fmla="val 5838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2E5C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992100" y="2590800"/>
            <a:ext cx="22733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dashboard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trust bands, explainable matches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2890500" y="3683000"/>
            <a:ext cx="2476500" cy="939800"/>
          </a:xfrm>
          <a:prstGeom prst="roundRect">
            <a:avLst>
              <a:gd name="adj" fmla="val 5838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2E5C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992100" y="3733800"/>
            <a:ext cx="22733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platelet finder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likelihood band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2890500" y="4826000"/>
            <a:ext cx="2476500" cy="939800"/>
          </a:xfrm>
          <a:prstGeom prst="roundRect">
            <a:avLst>
              <a:gd name="adj" fmla="val 5838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86A58E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12992100" y="4876800"/>
            <a:ext cx="22733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SBTC / FDA report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 avoided, reporting reliability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 flipV="1">
            <a:off x="8509000" y="2895600"/>
            <a:ext cx="635000" cy="11430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8509000" y="3784600"/>
            <a:ext cx="635000" cy="279400"/>
          </a:xfrm>
          <a:prstGeom prst="line">
            <a:avLst/>
          </a:prstGeom>
          <a:noFill/>
          <a:ln w="22225">
            <a:solidFill>
              <a:srgbClr val="86A58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8509000" y="3810000"/>
            <a:ext cx="635000" cy="1308100"/>
          </a:xfrm>
          <a:prstGeom prst="line">
            <a:avLst/>
          </a:prstGeom>
          <a:noFill/>
          <a:ln w="22225">
            <a:solidFill>
              <a:srgbClr val="E8C54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731500" y="3251200"/>
            <a:ext cx="914" cy="17780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731500" y="4140200"/>
            <a:ext cx="914" cy="17780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731500" y="5156200"/>
            <a:ext cx="914" cy="17780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731500" y="6045200"/>
            <a:ext cx="914" cy="17780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2319000" y="2895600"/>
            <a:ext cx="571500" cy="11430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2319000" y="3784600"/>
            <a:ext cx="571500" cy="36830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2319000" y="5295900"/>
            <a:ext cx="571500" cy="1282700"/>
          </a:xfrm>
          <a:prstGeom prst="line">
            <a:avLst/>
          </a:prstGeom>
          <a:noFill/>
          <a:ln w="22225">
            <a:solidFill>
              <a:srgbClr val="86A58E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5969000" y="7112000"/>
            <a:ext cx="939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officer approves every transfer · no patient data stored · unit IDs not linkable to donors</a:t>
            </a:r>
            <a:endParaRPr lang="en-US" sz="1300" dirty="0"/>
          </a:p>
        </p:txBody>
      </p:sp>
      <p:sp>
        <p:nvSpPr>
          <p:cNvPr id="49" name="sources"/>
          <p:cNvSpPr txBox="1"/>
          <p:nvPr/>
        </p:nvSpPr>
        <p:spPr>
          <a:xfrm>
            <a:off x="5969000" y="7620000"/>
            <a:ext cx="939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6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D&amp;C Rules 122P(xiv)–(xv) (transfer allowed; recipient may pass units only to a storage centre or patient); platelets 5 days at 20–24 °C (DGHS/NBTC Technical Manual 2023). The ≥12 h margin is our choice. Greedy matcher kept: an exact min-cost-flow matcher changed unserved % by ≤0.04 pp (simulated).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863600" y="1460500"/>
            <a:ext cx="88900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3100" b="1" spc="2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KEY FEATURES &amp; UI/UX</a:t>
            </a:r>
            <a:endParaRPr lang="en-US" sz="3100" dirty="0"/>
          </a:p>
        </p:txBody>
      </p:sp>
      <p:pic>
        <p:nvPicPr>
          <p:cNvPr id="3" name="Image 0" descr="RaktSetu working prototype on simulated data: coordinator board with centre stock and report-trust bands, two suggested transfers with their reasons, and the matcher panel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1300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2000" y="2413000"/>
            <a:ext cx="9144000" cy="5143500"/>
          </a:xfrm>
          <a:prstGeom prst="rect">
            <a:avLst/>
          </a:prstGeom>
          <a:ln w="12700">
            <a:solidFill>
              <a:srgbClr val="2E5C3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2000" y="7594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on simulated data · coordinator board after a strict match run · mock channel · not clinically validated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0312400" y="2489200"/>
            <a:ext cx="330200" cy="330200"/>
          </a:xfrm>
          <a:prstGeom prst="ellipse">
            <a:avLst/>
          </a:prstGeom>
          <a:solidFill>
            <a:srgbClr val="4AF66D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312400" y="24892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795000" y="2438400"/>
            <a:ext cx="469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Near-expiry board</a:t>
            </a:r>
            <a:pPr indent="0" marL="0">
              <a:buNone/>
            </a:pPr>
            <a:r>
              <a:rPr lang="en-US" sz="12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built</a:t>
            </a:r>
            <a:endParaRPr lang="en-US" sz="155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expiring within 2 days, city-wide, with listing age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0312400" y="3225800"/>
            <a:ext cx="330200" cy="330200"/>
          </a:xfrm>
          <a:prstGeom prst="ellipse">
            <a:avLst/>
          </a:prstGeom>
          <a:solidFill>
            <a:srgbClr val="4AF66D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312400" y="3225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795000" y="3175000"/>
            <a:ext cx="469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Report-trust bands</a:t>
            </a:r>
            <a:pPr indent="0" marL="0">
              <a:buNone/>
            </a:pPr>
            <a:r>
              <a:rPr lang="en-US" sz="12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built</a:t>
            </a:r>
            <a:endParaRPr lang="en-US" sz="155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confirmations; stale listings stand out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0312400" y="3962400"/>
            <a:ext cx="330200" cy="330200"/>
          </a:xfrm>
          <a:prstGeom prst="ellipse">
            <a:avLst/>
          </a:prstGeom>
          <a:solidFill>
            <a:srgbClr val="4AF66D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312400" y="3962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795000" y="3911600"/>
            <a:ext cx="469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matches</a:t>
            </a:r>
            <a:pPr indent="0" marL="0">
              <a:buNone/>
            </a:pPr>
            <a:r>
              <a:rPr lang="en-US" sz="12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built</a:t>
            </a:r>
            <a:endParaRPr lang="en-US" sz="155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unit; ABO/RhD, one-hop, 12-h checks computed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0312400" y="4699000"/>
            <a:ext cx="330200" cy="330200"/>
          </a:xfrm>
          <a:prstGeom prst="ellipse">
            <a:avLst/>
          </a:prstGeom>
          <a:solidFill>
            <a:srgbClr val="4AF66D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312400" y="46990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795000" y="4648200"/>
            <a:ext cx="469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before dispatch</a:t>
            </a:r>
            <a:pPr indent="0" marL="0">
              <a:buNone/>
            </a:pPr>
            <a:r>
              <a:rPr lang="en-US" sz="12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built</a:t>
            </a:r>
            <a:endParaRPr lang="en-US" sz="155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confirm what is there; only a medical officer can approve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0312400" y="5435600"/>
            <a:ext cx="330200" cy="330200"/>
          </a:xfrm>
          <a:prstGeom prst="ellipse">
            <a:avLst/>
          </a:prstGeom>
          <a:solidFill>
            <a:srgbClr val="4AF66D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312400" y="54356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795000" y="5384800"/>
            <a:ext cx="469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platelet finder</a:t>
            </a:r>
            <a:pPr indent="0" marL="0">
              <a:buNone/>
            </a:pPr>
            <a:r>
              <a:rPr lang="en-US" sz="12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built</a:t>
            </a:r>
            <a:endParaRPr lang="en-US" sz="155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bands, not %: raw estimate miscalibrated (ECE 0.03); High/Med/Low in stock 87/71/54% (sim.)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10312400" y="6172200"/>
            <a:ext cx="330200" cy="330200"/>
          </a:xfrm>
          <a:prstGeom prst="ellipse">
            <a:avLst/>
          </a:prstGeom>
          <a:solidFill>
            <a:srgbClr val="4AF66D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312400" y="61722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795000" y="6121400"/>
            <a:ext cx="469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Low-effort input</a:t>
            </a:r>
            <a:pPr indent="0" marL="0">
              <a:buNone/>
            </a:pPr>
            <a:r>
              <a:rPr lang="en-US" sz="12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built, mock channel</a:t>
            </a:r>
            <a:endParaRPr lang="en-US" sz="155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Hinglish; a person checks every draft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10312400" y="6908800"/>
            <a:ext cx="330200" cy="330200"/>
          </a:xfrm>
          <a:prstGeom prst="ellipse">
            <a:avLst/>
          </a:prstGeom>
          <a:solidFill>
            <a:srgbClr val="0B1A11"/>
          </a:solidFill>
          <a:ln w="12700">
            <a:solidFill>
              <a:srgbClr val="86A58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312400" y="6908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795000" y="6858000"/>
            <a:ext cx="469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view</a:t>
            </a:r>
            <a:pPr indent="0" marL="0">
              <a:buNone/>
            </a:pPr>
            <a:r>
              <a:rPr lang="en-US" sz="1200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planned</a:t>
            </a:r>
            <a:endParaRPr lang="en-US" sz="155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 avoided and reporting reliability per centre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774700" y="1295400"/>
            <a:ext cx="114300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3100" b="1" spc="2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IMPLEMENTATION ROADMAP &amp; SCOPE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774700" y="2006600"/>
            <a:ext cx="1206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2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WHAT WE TESTED IN SIMULATION, WHAT WE BUILT FOR ROUND 2, AND WHAT COMES NEXT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4700" y="2514600"/>
            <a:ext cx="2692400" cy="5080000"/>
          </a:xfrm>
          <a:prstGeom prst="roundRect">
            <a:avLst>
              <a:gd name="adj" fmla="val 2377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4AF6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7100" y="2641600"/>
            <a:ext cx="2387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SIMULATION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27100" y="3022600"/>
            <a:ext cx="2413000" cy="447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Simulator: 8-centre city, platelets last 5 days, ABO/RhD groups (Mumbai donor mix), 300 paired runs per arm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v3 rules: 2 of 4 passed; G1 and G2 FAILED (chart)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grid, 4 unusual error patterns, calibration check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32200" y="2514600"/>
            <a:ext cx="2692400" cy="5080000"/>
          </a:xfrm>
          <a:prstGeom prst="roundRect">
            <a:avLst>
              <a:gd name="adj" fmla="val 2377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4AF6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84600" y="2641600"/>
            <a:ext cx="2387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BUILT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84600" y="3022600"/>
            <a:ext cx="2413000" cy="447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on simulated data: list → match → confirm → approve → dispatch → deliver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+ matcher code reproduce the simulator exactly (17 whole runs; 200+ automated tests)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parser with human check (mock channel); public finder with bands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open: specialist review; parser accuracy test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89700" y="2514600"/>
            <a:ext cx="2692400" cy="5080000"/>
          </a:xfrm>
          <a:prstGeom prst="roundRect">
            <a:avLst>
              <a:gd name="adj" fmla="val 2377"/>
            </a:avLst>
          </a:prstGeom>
          <a:solidFill>
            <a:srgbClr val="0B1A11">
              <a:alpha val="92000"/>
            </a:srgbClr>
          </a:solidFill>
          <a:ln w="15875">
            <a:solidFill>
              <a:srgbClr val="8FD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2100" y="2641600"/>
            <a:ext cx="2387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HACKATHON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42100" y="3022600"/>
            <a:ext cx="2413000" cy="447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Transfusion-specialist review of the matching policy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pilot with 5–8 Pune centres via SBTC; measure real outdates and report accuracy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RhD-negative reserve; real WhatsApp channel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e-RaktKosh / ABDM link; red cells and plasma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461500" y="2514600"/>
            <a:ext cx="596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(strict ABO/RhD): families sent to search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461500" y="2794000"/>
            <a:ext cx="596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day, 8-centre city · realistic vs poor stock-data quality · 300 paired runs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9461500" y="3048000"/>
          <a:ext cx="5969000" cy="2819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3"/>
          <p:cNvSpPr/>
          <p:nvPr/>
        </p:nvSpPr>
        <p:spPr>
          <a:xfrm>
            <a:off x="9461500" y="5969000"/>
            <a:ext cx="5969000" cy="1625600"/>
          </a:xfrm>
          <a:prstGeom prst="roundRect">
            <a:avLst>
              <a:gd name="adj" fmla="val 4500"/>
            </a:avLst>
          </a:prstGeom>
          <a:solidFill>
            <a:srgbClr val="10241A">
              <a:alpha val="95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52000" y="6045200"/>
            <a:ext cx="5588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missed: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−37% / −38% vs ≥40% (G1 FAIL); failed visits −66% / −78% vs ≥80% (G2 FAIL). Blood groups keep 55–59% of the single-group effect.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it: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plus confirmation alone (~3.7 calls/day): unserved 4.2% → 2.3% (poor data 7.7% → 2.6%). Adding the trust finder gives 2.2% (2.5%) and cuts failed visits per family by 17–18%.</a:t>
            </a:r>
            <a:endParaRPr lang="en-US" sz="1350" dirty="0"/>
          </a:p>
        </p:txBody>
      </p:sp>
      <p:sp>
        <p:nvSpPr>
          <p:cNvPr id="18" name="sources"/>
          <p:cNvSpPr txBox="1"/>
          <p:nvPr/>
        </p:nvSpPr>
        <p:spPr>
          <a:xfrm>
            <a:off x="774700" y="76962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6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family per platelet request a hospital cannot fill. Simulated; data-error rates assumed (no published Indian figure). Pre-registration, 95% CIs and all v3 results: sim_v3/RESULTS_v3.md. Prototype test counts: raktsetu-app, 17 Oct 2026.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889000" y="1117600"/>
            <a:ext cx="11430000" cy="57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3100" b="1" spc="2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EXPECTED IMPACT &amp; SCALABILITY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889000" y="1854200"/>
            <a:ext cx="1206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250" b="1" spc="100" kern="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WHO BENEFITS, HOW BIG THE OPPORTUNITY IS, AND HOW THIS GROWS BEYOND A DEMO.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89000" y="2336800"/>
            <a:ext cx="3454400" cy="1371600"/>
          </a:xfrm>
          <a:prstGeom prst="roundRect">
            <a:avLst>
              <a:gd name="adj" fmla="val 4667"/>
            </a:avLst>
          </a:prstGeom>
          <a:solidFill>
            <a:srgbClr val="0B1A11">
              <a:alpha val="95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800" y="24130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−37%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066800" y="3048000"/>
            <a:ext cx="317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sent to search (13.52 → 8.55 a day); target −40%: FAILED (G1)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33900" y="2336800"/>
            <a:ext cx="3454400" cy="1371600"/>
          </a:xfrm>
          <a:prstGeom prst="roundRect">
            <a:avLst>
              <a:gd name="adj" fmla="val 4667"/>
            </a:avLst>
          </a:prstGeom>
          <a:solidFill>
            <a:srgbClr val="0B1A11">
              <a:alpha val="95000"/>
            </a:srgbClr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11700" y="24130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−66%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711700" y="3048000"/>
            <a:ext cx="317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visits to empty centres (4.89 → 1.68 a day); target −80%: FAILED (G2)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78800" y="2336800"/>
            <a:ext cx="3454400" cy="1371600"/>
          </a:xfrm>
          <a:prstGeom prst="roundRect">
            <a:avLst>
              <a:gd name="adj" fmla="val 4667"/>
            </a:avLst>
          </a:prstGeom>
          <a:solidFill>
            <a:srgbClr val="0B1A11">
              <a:alpha val="95000"/>
            </a:srgbClr>
          </a:solidFill>
          <a:ln w="12700">
            <a:solidFill>
              <a:srgbClr val="2E5C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6600" y="24130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 → 2.2%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356600" y="3048000"/>
            <a:ext cx="317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left unserved with RaktSetu (poor data: 7.7% → 2.5%)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23700" y="2336800"/>
            <a:ext cx="3454400" cy="1371600"/>
          </a:xfrm>
          <a:prstGeom prst="roundRect">
            <a:avLst>
              <a:gd name="adj" fmla="val 4667"/>
            </a:avLst>
          </a:prstGeom>
          <a:solidFill>
            <a:srgbClr val="0B1A11">
              <a:alpha val="95000"/>
            </a:srgbClr>
          </a:solidFill>
          <a:ln w="12700">
            <a:solidFill>
              <a:srgbClr val="2E5C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01500" y="24130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 design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2001500" y="3048000"/>
            <a:ext cx="317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trips: every transfer is confirmed, at ~3.7 calls a day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9000" y="37592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8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tiles: simulated 8-centre city, strict ABO/RhD matching, realistic stock data, 300 paired runs; error rates assumed. Robustness: with realistic data RaktSetu stays at 2.2–2.5% unserved across 0.5×–5× error rates and 0.5×–1.5× posting rates (25 cells; 2.6% in the 5 poor-data cells). It beats no platform in all 30 cells and under 4 unusual error patterns; 12–17% of calls find less stock than listed.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9000" y="4292600"/>
            <a:ext cx="4635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500" b="1" spc="1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WHO BENEFITS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89000" y="4699000"/>
            <a:ext cx="4635500" cy="287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families: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searches between centres in dengue peaks and for cancer care</a:t>
            </a:r>
            <a:endParaRPr lang="en-US" sz="16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centres: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near-expiry units lost</a:t>
            </a:r>
            <a:endParaRPr lang="en-US" sz="16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Donors: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donation reaches a patient instead of the discard bin</a:t>
            </a:r>
            <a:endParaRPr lang="en-US" sz="16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SBTC / FDA: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visibility and a reporting-reliability lens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5753100" y="4292600"/>
            <a:ext cx="4635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500" b="1" spc="1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HOW BIG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753100" y="4699000"/>
            <a:ext cx="4635500" cy="287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8–48%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platelets discarded in three Indian hospital studies, mostly to expiry</a:t>
            </a:r>
            <a:endParaRPr lang="en-US" sz="16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10,995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units discarded at GMC Patiala in 3 years: about 10 every day</a:t>
            </a:r>
            <a:endParaRPr lang="en-US" sz="16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banks in Maharashtra (as reported, 2026)</a:t>
            </a:r>
            <a:endParaRPr lang="en-US" sz="16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platelet outdates from two-hospital sharing (US, Zhang et al. 2023)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10617200" y="4292600"/>
            <a:ext cx="4635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cap="small" lang="en-US" sz="1500" b="1" spc="100" kern="0" dirty="0">
                <a:solidFill>
                  <a:srgbClr val="4AF6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HOW IT GROWS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617200" y="4699000"/>
            <a:ext cx="4635500" cy="287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→ district → state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SBTC, one MoU template</a:t>
            </a:r>
            <a:endParaRPr lang="en-US" sz="16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more products: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cells and plasma use the same engine (shelf life is a parameter)</a:t>
            </a:r>
            <a:endParaRPr lang="en-US" sz="16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e-RaktKosh / ABDM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data prior, no duplicate entry</a:t>
            </a:r>
            <a:endParaRPr lang="en-US" sz="16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6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cost: </a:t>
            </a:r>
            <a:pPr indent="0" marL="0">
              <a:spcAft>
                <a:spcPts val="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stack; messaging and parsing are the main running costs</a:t>
            </a:r>
            <a:endParaRPr lang="en-US" sz="1650" dirty="0"/>
          </a:p>
        </p:txBody>
      </p:sp>
      <p:sp>
        <p:nvSpPr>
          <p:cNvPr id="23" name="sources"/>
          <p:cNvSpPr txBox="1"/>
          <p:nvPr/>
        </p:nvSpPr>
        <p:spPr>
          <a:xfrm>
            <a:off x="889000" y="7670800"/>
            <a:ext cx="1397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6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Team Trex simulator v3 (sim_v3/RESULTS_v3.md); IJCMPH 2024 (Thane); AJPCR 2025 (GMC Patiala); Bioinformation 2026 (Goa); Free Press Journal 7 Aug 2026; Zhang et al., Oper. Res. 71(5), 2023.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rbitro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RaktSetu — Team Trex — Code Apex 3.0 (Round 2)</dc:title>
  <dc:subject>PptxGenJS Presentation</dc:subject>
  <dc:creator>Team Trex</dc:creator>
  <cp:lastModifiedBy>Team Trex</cp:lastModifiedBy>
  <cp:revision>1</cp:revision>
  <dcterms:created xsi:type="dcterms:W3CDTF">2026-10-17T07:22:27Z</dcterms:created>
  <dcterms:modified xsi:type="dcterms:W3CDTF">2026-10-17T07:22:27Z</dcterms:modified>
</cp:coreProperties>
</file>